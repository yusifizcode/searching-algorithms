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Roboto"/>
      <p:regular r:id="rId17"/>
      <p:bold r:id="rId18"/>
      <p:italic r:id="rId19"/>
      <p:boldItalic r:id="rId20"/>
    </p:embeddedFont>
    <p:embeddedFont>
      <p:font typeface="Montserrat"/>
      <p:regular r:id="rId21"/>
      <p:bold r:id="rId22"/>
      <p:italic r:id="rId23"/>
      <p:boldItalic r:id="rId24"/>
    </p:embeddedFont>
    <p:embeddedFont>
      <p:font typeface="Lato"/>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boldItalic.fntdata"/><Relationship Id="rId22" Type="http://schemas.openxmlformats.org/officeDocument/2006/relationships/font" Target="fonts/Montserrat-bold.fntdata"/><Relationship Id="rId21" Type="http://schemas.openxmlformats.org/officeDocument/2006/relationships/font" Target="fonts/Montserrat-regular.fntdata"/><Relationship Id="rId24" Type="http://schemas.openxmlformats.org/officeDocument/2006/relationships/font" Target="fonts/Montserrat-boldItalic.fntdata"/><Relationship Id="rId23" Type="http://schemas.openxmlformats.org/officeDocument/2006/relationships/font" Target="fonts/Montserrat-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ato-bold.fntdata"/><Relationship Id="rId25" Type="http://schemas.openxmlformats.org/officeDocument/2006/relationships/font" Target="fonts/Lato-regular.fntdata"/><Relationship Id="rId28" Type="http://schemas.openxmlformats.org/officeDocument/2006/relationships/font" Target="fonts/Lato-boldItalic.fntdata"/><Relationship Id="rId27" Type="http://schemas.openxmlformats.org/officeDocument/2006/relationships/font" Target="fonts/Lat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oboto-regular.fntdata"/><Relationship Id="rId16" Type="http://schemas.openxmlformats.org/officeDocument/2006/relationships/slide" Target="slides/slide11.xml"/><Relationship Id="rId19" Type="http://schemas.openxmlformats.org/officeDocument/2006/relationships/font" Target="fonts/Roboto-italic.fntdata"/><Relationship Id="rId18" Type="http://schemas.openxmlformats.org/officeDocument/2006/relationships/font" Target="fonts/Roboto-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11960d416f0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11960d416f0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11960d416f0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11960d416f0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11960d416f0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11960d416f0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11960d416f0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11960d416f0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11960d416f0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11960d416f0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11960d416f0_0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11960d416f0_0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11960d416f0_0_2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11960d416f0_0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11960d416f0_0_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11960d416f0_0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11960d416f0_0_2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11960d416f0_0_2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11960d416f0_0_2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11960d416f0_0_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gif"/><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7.jp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en" sz="3400">
                <a:latin typeface="Roboto"/>
                <a:ea typeface="Roboto"/>
                <a:cs typeface="Roboto"/>
                <a:sym typeface="Roboto"/>
              </a:rPr>
              <a:t>Searching algorithms</a:t>
            </a:r>
            <a:endParaRPr sz="3400">
              <a:latin typeface="Roboto"/>
              <a:ea typeface="Roboto"/>
              <a:cs typeface="Roboto"/>
              <a:sym typeface="Roboto"/>
            </a:endParaRPr>
          </a:p>
        </p:txBody>
      </p:sp>
      <p:sp>
        <p:nvSpPr>
          <p:cNvPr id="135" name="Google Shape;135;p13"/>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p>
            <a:pPr indent="0" lvl="0" marL="1828800" rtl="0" algn="l">
              <a:spcBef>
                <a:spcPts val="0"/>
              </a:spcBef>
              <a:spcAft>
                <a:spcPts val="0"/>
              </a:spcAft>
              <a:buNone/>
            </a:pPr>
            <a:r>
              <a:rPr lang="en"/>
              <a:t>     by Yusif Osmanov</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Linear Search</a:t>
            </a:r>
            <a:endParaRPr/>
          </a:p>
        </p:txBody>
      </p:sp>
      <p:sp>
        <p:nvSpPr>
          <p:cNvPr id="141" name="Google Shape;141;p1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800"/>
              <a:t>Bu axtarış alqoritmi ən sadə və runtime’da (çalışma zamanı) ən pis alqoritmlərdən biridir. Çünki ən pis ehtimal vəziyyətində (worth case) siyahıdakı bütün elementləri bir-bir yoxlayır. Bu alqoritm Big O notation’ın worth case’ində </a:t>
            </a:r>
            <a:r>
              <a:rPr lang="en" sz="1500">
                <a:solidFill>
                  <a:srgbClr val="292929"/>
                </a:solidFill>
                <a:highlight>
                  <a:srgbClr val="FFFFFF"/>
                </a:highlight>
                <a:latin typeface="Arial"/>
                <a:ea typeface="Arial"/>
                <a:cs typeface="Arial"/>
                <a:sym typeface="Arial"/>
              </a:rPr>
              <a:t>time complexity</a:t>
            </a:r>
            <a:r>
              <a:rPr lang="en" sz="1800"/>
              <a:t> O(n)-dir.  Yəni, worth case’də uzunluğu “n” olan bir siyahıda “n” dəfə təkrarlanacaq.</a:t>
            </a:r>
            <a:endParaRPr sz="18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pic>
        <p:nvPicPr>
          <p:cNvPr id="146" name="Google Shape;146;p15"/>
          <p:cNvPicPr preferRelativeResize="0"/>
          <p:nvPr/>
        </p:nvPicPr>
        <p:blipFill>
          <a:blip r:embed="rId3">
            <a:alphaModFix/>
          </a:blip>
          <a:stretch>
            <a:fillRect/>
          </a:stretch>
        </p:blipFill>
        <p:spPr>
          <a:xfrm>
            <a:off x="1140938" y="998175"/>
            <a:ext cx="4105275" cy="3914775"/>
          </a:xfrm>
          <a:prstGeom prst="rect">
            <a:avLst/>
          </a:prstGeom>
          <a:noFill/>
          <a:ln>
            <a:noFill/>
          </a:ln>
        </p:spPr>
      </p:pic>
      <p:pic>
        <p:nvPicPr>
          <p:cNvPr id="147" name="Google Shape;147;p15"/>
          <p:cNvPicPr preferRelativeResize="0"/>
          <p:nvPr/>
        </p:nvPicPr>
        <p:blipFill>
          <a:blip r:embed="rId4">
            <a:alphaModFix/>
          </a:blip>
          <a:stretch>
            <a:fillRect/>
          </a:stretch>
        </p:blipFill>
        <p:spPr>
          <a:xfrm>
            <a:off x="5108050" y="1028888"/>
            <a:ext cx="3886200" cy="1152525"/>
          </a:xfrm>
          <a:prstGeom prst="rect">
            <a:avLst/>
          </a:prstGeom>
          <a:noFill/>
          <a:ln>
            <a:noFill/>
          </a:ln>
        </p:spPr>
      </p:pic>
      <p:sp>
        <p:nvSpPr>
          <p:cNvPr id="148" name="Google Shape;148;p15"/>
          <p:cNvSpPr txBox="1"/>
          <p:nvPr/>
        </p:nvSpPr>
        <p:spPr>
          <a:xfrm>
            <a:off x="1220625" y="191925"/>
            <a:ext cx="3516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Lato"/>
                <a:ea typeface="Lato"/>
                <a:cs typeface="Lato"/>
                <a:sym typeface="Lato"/>
              </a:rPr>
              <a:t>Code examples</a:t>
            </a:r>
            <a:endParaRPr>
              <a:solidFill>
                <a:schemeClr val="lt1"/>
              </a:solidFill>
              <a:latin typeface="Lato"/>
              <a:ea typeface="Lato"/>
              <a:cs typeface="Lato"/>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Binary Search</a:t>
            </a:r>
            <a:endParaRPr/>
          </a:p>
        </p:txBody>
      </p:sp>
      <p:sp>
        <p:nvSpPr>
          <p:cNvPr id="154" name="Google Shape;154;p16"/>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sz="1800"/>
              <a:t>Binary search, sıralı (sorted) bir siyahı (array..) üçün istifadə olunur. Yəni alqoritmə axtarılan datanı və sıralı bir siyahı veririk. Siyahını sıralamaq üçün isə sorting alqoritmindən istifadə edə bilərik. </a:t>
            </a:r>
            <a:endParaRPr sz="1800"/>
          </a:p>
          <a:p>
            <a:pPr indent="0" lvl="0" marL="0" rtl="0" algn="l">
              <a:spcBef>
                <a:spcPts val="1200"/>
              </a:spcBef>
              <a:spcAft>
                <a:spcPts val="1200"/>
              </a:spcAft>
              <a:buNone/>
            </a:pPr>
            <a:r>
              <a:rPr lang="en" sz="1800"/>
              <a:t>Binary axtarış alqoritmi time complexity’ə görə Linear’dan daha yaxşıdır. Hər dövrdə siyahıdakı axtarılan elementlərin sayını yarıya endirərək işləyir. Əvvəlcə axtarılan data siyahının ortasındakı data ilə müqayisə olunur. Əgər axtarılan data daha böyükdürsə siyahının ikinci yarısını götürür və bu formada davam edir. (T</a:t>
            </a:r>
            <a:r>
              <a:rPr lang="en" sz="1800"/>
              <a:t>ime complexity worst-case’də O(log n)-dir.)</a:t>
            </a:r>
            <a:endParaRPr sz="18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pic>
        <p:nvPicPr>
          <p:cNvPr id="159" name="Google Shape;159;p17"/>
          <p:cNvPicPr preferRelativeResize="0"/>
          <p:nvPr/>
        </p:nvPicPr>
        <p:blipFill>
          <a:blip r:embed="rId3">
            <a:alphaModFix/>
          </a:blip>
          <a:stretch>
            <a:fillRect/>
          </a:stretch>
        </p:blipFill>
        <p:spPr>
          <a:xfrm>
            <a:off x="1404725" y="1023700"/>
            <a:ext cx="3167275" cy="3819551"/>
          </a:xfrm>
          <a:prstGeom prst="rect">
            <a:avLst/>
          </a:prstGeom>
          <a:noFill/>
          <a:ln>
            <a:noFill/>
          </a:ln>
        </p:spPr>
      </p:pic>
      <p:pic>
        <p:nvPicPr>
          <p:cNvPr id="160" name="Google Shape;160;p17"/>
          <p:cNvPicPr preferRelativeResize="0"/>
          <p:nvPr/>
        </p:nvPicPr>
        <p:blipFill>
          <a:blip r:embed="rId4">
            <a:alphaModFix/>
          </a:blip>
          <a:stretch>
            <a:fillRect/>
          </a:stretch>
        </p:blipFill>
        <p:spPr>
          <a:xfrm>
            <a:off x="4902375" y="1023700"/>
            <a:ext cx="4053550" cy="3819550"/>
          </a:xfrm>
          <a:prstGeom prst="rect">
            <a:avLst/>
          </a:prstGeom>
          <a:noFill/>
          <a:ln>
            <a:noFill/>
          </a:ln>
        </p:spPr>
      </p:pic>
      <p:sp>
        <p:nvSpPr>
          <p:cNvPr id="161" name="Google Shape;161;p17"/>
          <p:cNvSpPr txBox="1"/>
          <p:nvPr/>
        </p:nvSpPr>
        <p:spPr>
          <a:xfrm>
            <a:off x="1220625" y="191925"/>
            <a:ext cx="3516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Lato"/>
                <a:ea typeface="Lato"/>
                <a:cs typeface="Lato"/>
                <a:sym typeface="Lato"/>
              </a:rPr>
              <a:t>Code examples</a:t>
            </a:r>
            <a:endParaRPr>
              <a:solidFill>
                <a:schemeClr val="lt1"/>
              </a:solidFill>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Jump Search</a:t>
            </a:r>
            <a:endParaRPr/>
          </a:p>
        </p:txBody>
      </p:sp>
      <p:sp>
        <p:nvSpPr>
          <p:cNvPr id="167" name="Google Shape;167;p18"/>
          <p:cNvSpPr txBox="1"/>
          <p:nvPr>
            <p:ph idx="1" type="body"/>
          </p:nvPr>
        </p:nvSpPr>
        <p:spPr>
          <a:xfrm>
            <a:off x="1297500" y="1567550"/>
            <a:ext cx="7038900" cy="2911200"/>
          </a:xfrm>
          <a:prstGeom prst="rect">
            <a:avLst/>
          </a:prstGeom>
          <a:noFill/>
        </p:spPr>
        <p:txBody>
          <a:bodyPr anchorCtr="0" anchor="t" bIns="91425" lIns="91425" spcFirstLastPara="1" rIns="91425" wrap="square" tIns="91425">
            <a:normAutofit/>
          </a:bodyPr>
          <a:lstStyle/>
          <a:p>
            <a:pPr indent="0" lvl="0" marL="0" rtl="0" algn="l">
              <a:spcBef>
                <a:spcPts val="0"/>
              </a:spcBef>
              <a:spcAft>
                <a:spcPts val="1200"/>
              </a:spcAft>
              <a:buNone/>
            </a:pPr>
            <a:r>
              <a:rPr lang="en" sz="1800"/>
              <a:t>Jump search alqoritmlər linear kimi xətti irəliləyir. Lineardan fərqi isə bir-bir deyil sabit bir addımla hərəkət edir. Bu alqoritm növündə optimal addım </a:t>
            </a:r>
            <a:r>
              <a:rPr lang="en" sz="1800">
                <a:solidFill>
                  <a:srgbClr val="273239"/>
                </a:solidFill>
                <a:highlight>
                  <a:srgbClr val="FFFFFF"/>
                </a:highlight>
                <a:latin typeface="Arial"/>
                <a:ea typeface="Arial"/>
                <a:cs typeface="Arial"/>
                <a:sym typeface="Arial"/>
              </a:rPr>
              <a:t>√n</a:t>
            </a:r>
            <a:r>
              <a:rPr lang="en" sz="1800"/>
              <a:t> kimi qəbul olunur. Məsələn, içərisində 25 element olan bir siyahımız varsa optimal addımımız 5 element olacaq. Əgər axtardığımız element 3-cüdürsə, yenidən 0-5 aralığına qayıdıb linear olaraq axtaracaq.</a:t>
            </a:r>
            <a:endParaRPr sz="1800">
              <a:solidFill>
                <a:srgbClr val="273239"/>
              </a:solidFill>
              <a:highlight>
                <a:srgbClr val="FFFFFF"/>
              </a:highlight>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9"/>
          <p:cNvSpPr txBox="1"/>
          <p:nvPr/>
        </p:nvSpPr>
        <p:spPr>
          <a:xfrm>
            <a:off x="1220625" y="191925"/>
            <a:ext cx="3516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Lato"/>
                <a:ea typeface="Lato"/>
                <a:cs typeface="Lato"/>
                <a:sym typeface="Lato"/>
              </a:rPr>
              <a:t>Code examples</a:t>
            </a:r>
            <a:endParaRPr>
              <a:solidFill>
                <a:schemeClr val="lt1"/>
              </a:solidFill>
              <a:latin typeface="Lato"/>
              <a:ea typeface="Lato"/>
              <a:cs typeface="Lato"/>
              <a:sym typeface="Lato"/>
            </a:endParaRPr>
          </a:p>
        </p:txBody>
      </p:sp>
      <p:pic>
        <p:nvPicPr>
          <p:cNvPr id="173" name="Google Shape;173;p19"/>
          <p:cNvPicPr preferRelativeResize="0"/>
          <p:nvPr/>
        </p:nvPicPr>
        <p:blipFill>
          <a:blip r:embed="rId3">
            <a:alphaModFix/>
          </a:blip>
          <a:stretch>
            <a:fillRect/>
          </a:stretch>
        </p:blipFill>
        <p:spPr>
          <a:xfrm>
            <a:off x="1220623" y="1166874"/>
            <a:ext cx="4158874" cy="2887648"/>
          </a:xfrm>
          <a:prstGeom prst="rect">
            <a:avLst/>
          </a:prstGeom>
          <a:noFill/>
          <a:ln>
            <a:noFill/>
          </a:ln>
        </p:spPr>
      </p:pic>
      <p:pic>
        <p:nvPicPr>
          <p:cNvPr id="174" name="Google Shape;174;p19"/>
          <p:cNvPicPr preferRelativeResize="0"/>
          <p:nvPr/>
        </p:nvPicPr>
        <p:blipFill>
          <a:blip r:embed="rId4">
            <a:alphaModFix/>
          </a:blip>
          <a:stretch>
            <a:fillRect/>
          </a:stretch>
        </p:blipFill>
        <p:spPr>
          <a:xfrm>
            <a:off x="5522672" y="829075"/>
            <a:ext cx="3392178" cy="356326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İnterpolation Search</a:t>
            </a:r>
            <a:endParaRPr/>
          </a:p>
        </p:txBody>
      </p:sp>
      <p:sp>
        <p:nvSpPr>
          <p:cNvPr id="180" name="Google Shape;180;p20"/>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lang="en" sz="2345"/>
              <a:t>İnterpolation axtarış alqoritmi binray search ilə bənzəyir. Binary axtarış alqoritmindən fərqli cəhəti, axtarışa həmişə ortadan başlamır. İnterpolation search alqoritmi düsturdan istifadə edərək, axtardığımız elementin ehtimal olunan mövqeyini hesablayır. </a:t>
            </a:r>
            <a:r>
              <a:rPr lang="en" sz="2250"/>
              <a:t>(Time complexity worst-case’də O(n)-dir.)</a:t>
            </a:r>
            <a:endParaRPr sz="2250"/>
          </a:p>
          <a:p>
            <a:pPr indent="0" lvl="0" marL="0" rtl="0" algn="l">
              <a:spcBef>
                <a:spcPts val="1200"/>
              </a:spcBef>
              <a:spcAft>
                <a:spcPts val="0"/>
              </a:spcAft>
              <a:buNone/>
            </a:pPr>
            <a:r>
              <a:rPr lang="en" sz="2000">
                <a:solidFill>
                  <a:srgbClr val="ABB2BF"/>
                </a:solidFill>
                <a:highlight>
                  <a:srgbClr val="282C34"/>
                </a:highlight>
                <a:latin typeface="Courier New"/>
                <a:ea typeface="Courier New"/>
                <a:cs typeface="Courier New"/>
                <a:sym typeface="Courier New"/>
              </a:rPr>
              <a:t>index = low + [(val-lys[low])*(high-low) / (lys[high]-lys[low])]</a:t>
            </a:r>
            <a:endParaRPr sz="2600"/>
          </a:p>
          <a:p>
            <a:pPr indent="-308610" lvl="0" marL="457200" rtl="0" algn="l">
              <a:spcBef>
                <a:spcPts val="1200"/>
              </a:spcBef>
              <a:spcAft>
                <a:spcPts val="0"/>
              </a:spcAft>
              <a:buSzPct val="100000"/>
              <a:buChar char="●"/>
            </a:pPr>
            <a:r>
              <a:rPr lang="en" sz="1800"/>
              <a:t>lys - array</a:t>
            </a:r>
            <a:endParaRPr sz="1800"/>
          </a:p>
          <a:p>
            <a:pPr indent="-308610" lvl="0" marL="457200" rtl="0" algn="l">
              <a:spcBef>
                <a:spcPts val="0"/>
              </a:spcBef>
              <a:spcAft>
                <a:spcPts val="0"/>
              </a:spcAft>
              <a:buSzPct val="100000"/>
              <a:buChar char="●"/>
            </a:pPr>
            <a:r>
              <a:rPr lang="en" sz="1800"/>
              <a:t>val - axtarılan element</a:t>
            </a:r>
            <a:endParaRPr sz="1800"/>
          </a:p>
          <a:p>
            <a:pPr indent="-308610" lvl="0" marL="457200" rtl="0" algn="l">
              <a:spcBef>
                <a:spcPts val="0"/>
              </a:spcBef>
              <a:spcAft>
                <a:spcPts val="0"/>
              </a:spcAft>
              <a:buSzPct val="100000"/>
              <a:buChar char="●"/>
            </a:pPr>
            <a:r>
              <a:rPr lang="en" sz="1800"/>
              <a:t>index - axtarılan elementin indeki</a:t>
            </a:r>
            <a:endParaRPr sz="1800"/>
          </a:p>
          <a:p>
            <a:pPr indent="-308610" lvl="0" marL="457200" rtl="0" algn="l">
              <a:spcBef>
                <a:spcPts val="0"/>
              </a:spcBef>
              <a:spcAft>
                <a:spcPts val="0"/>
              </a:spcAft>
              <a:buSzPct val="100000"/>
              <a:buChar char="●"/>
            </a:pPr>
            <a:r>
              <a:rPr lang="en" sz="1800"/>
              <a:t>low - array’in başlanğıc indeksi</a:t>
            </a:r>
            <a:endParaRPr sz="1800"/>
          </a:p>
          <a:p>
            <a:pPr indent="-308610" lvl="0" marL="457200" rtl="0" algn="l">
              <a:spcBef>
                <a:spcPts val="0"/>
              </a:spcBef>
              <a:spcAft>
                <a:spcPts val="0"/>
              </a:spcAft>
              <a:buSzPct val="100000"/>
              <a:buChar char="●"/>
            </a:pPr>
            <a:r>
              <a:rPr lang="en" sz="1800"/>
              <a:t>h</a:t>
            </a:r>
            <a:r>
              <a:rPr lang="en" sz="1800"/>
              <a:t>igh - array’in sonuncu indeki</a:t>
            </a:r>
            <a:endParaRPr sz="1800"/>
          </a:p>
          <a:p>
            <a:pPr indent="0" lvl="0" marL="0" rtl="0" algn="l">
              <a:spcBef>
                <a:spcPts val="1200"/>
              </a:spcBef>
              <a:spcAft>
                <a:spcPts val="1200"/>
              </a:spcAft>
              <a:buNone/>
            </a:pPr>
            <a:r>
              <a:t/>
            </a:r>
            <a:endParaRPr sz="1200">
              <a:solidFill>
                <a:srgbClr val="ABB2BF"/>
              </a:solidFill>
              <a:highlight>
                <a:srgbClr val="282C34"/>
              </a:highlight>
              <a:latin typeface="Courier New"/>
              <a:ea typeface="Courier New"/>
              <a:cs typeface="Courier New"/>
              <a:sym typeface="Courier New"/>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pic>
        <p:nvPicPr>
          <p:cNvPr id="185" name="Google Shape;185;p21"/>
          <p:cNvPicPr preferRelativeResize="0"/>
          <p:nvPr/>
        </p:nvPicPr>
        <p:blipFill>
          <a:blip r:embed="rId3">
            <a:alphaModFix/>
          </a:blip>
          <a:stretch>
            <a:fillRect/>
          </a:stretch>
        </p:blipFill>
        <p:spPr>
          <a:xfrm>
            <a:off x="1220625" y="1576450"/>
            <a:ext cx="7096125" cy="2266950"/>
          </a:xfrm>
          <a:prstGeom prst="rect">
            <a:avLst/>
          </a:prstGeom>
          <a:noFill/>
          <a:ln>
            <a:noFill/>
          </a:ln>
        </p:spPr>
      </p:pic>
      <p:sp>
        <p:nvSpPr>
          <p:cNvPr id="186" name="Google Shape;186;p21"/>
          <p:cNvSpPr txBox="1"/>
          <p:nvPr/>
        </p:nvSpPr>
        <p:spPr>
          <a:xfrm>
            <a:off x="1220625" y="191925"/>
            <a:ext cx="3516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Lato"/>
                <a:ea typeface="Lato"/>
                <a:cs typeface="Lato"/>
                <a:sym typeface="Lato"/>
              </a:rPr>
              <a:t>Code examples</a:t>
            </a:r>
            <a:endParaRPr>
              <a:solidFill>
                <a:schemeClr val="lt1"/>
              </a:solidFill>
              <a:latin typeface="Lato"/>
              <a:ea typeface="Lato"/>
              <a:cs typeface="Lato"/>
              <a:sym typeface="La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2"/>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Exponential Search</a:t>
            </a:r>
            <a:endParaRPr/>
          </a:p>
        </p:txBody>
      </p:sp>
      <p:sp>
        <p:nvSpPr>
          <p:cNvPr id="192" name="Google Shape;192;p22"/>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800"/>
              <a:t>Exponential axtarış alqoritmi binary və fibonacci alqoritmləri ilə bənzərdir və daha sadədir. Alqoritm ilk öncə array’in ilk elementinin axtarılan elementə uyğun olub olmadığını yoxlayır. Əgər uyğundursa, element tapılır, uyğun deyilsə indeksimiz 1-ə bərabər olur. Daha sonra isə indeksin array’in uzunluğundan və həmin indeksdəki elementin axtarılan elementdən kiçik olub olmadığını yoxlayır. Və nəticədə binary search alqoritmi ilə verilən diapazonda elementi tapır. </a:t>
            </a:r>
            <a:r>
              <a:rPr lang="en" sz="1800"/>
              <a:t>(Time complexity O(log n)-dir.)</a:t>
            </a:r>
            <a:endParaRPr sz="18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3"/>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Fibonacci Search</a:t>
            </a:r>
            <a:endParaRPr/>
          </a:p>
        </p:txBody>
      </p:sp>
      <p:sp>
        <p:nvSpPr>
          <p:cNvPr id="198" name="Google Shape;198;p23"/>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600"/>
              <a:t>Fibonacci axtarış alqoritmi də binary kimi devide and conquer prinsipi ilə işləyir. Binary’dən fərqli cəhəti isə verilmiş siyahını fibonacci saylarına uyğun olaraq hesablayır. Əvvəlcə axtarılan elementin siyahıya uyğun ən böyük fibonacci sayından böyük olub olmadığı yoxlanılır. Çünki fibonacci saylarının ardıcıllığı hər addımda artır və buna görə fibonacci axtarış alqoritmi tərsinə, yəni böyükdən kiçiyə doğru axtarır. Daha sonra eynilə binary alqoritmindəki kimi hissələrə bölərək elementi axtarır. Time complexity binary’də olduğu kimi O(log n)-dir. Ancaq aparılan riyazi araşdırmalar göstərirki, fibonacci axtarış alqoritmi binary’ə nisbətən daha sürətlidir.</a:t>
            </a:r>
            <a:endParaRPr sz="16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